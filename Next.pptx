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60" r:id="rId7"/>
    <p:sldId id="263" r:id="rId8"/>
    <p:sldId id="261" r:id="rId9"/>
    <p:sldId id="262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7E2A-DCCA-441E-AD17-991D05162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6409F-1E3E-450A-A360-D6A21F4CF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58423-5113-402D-A5F8-4E05A249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D9E7F-7E7A-4A6B-9C33-D1464A42C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2067-8630-476A-AE64-5711E497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1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ABF3-2107-4AF6-A1B5-41A5AEAC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3EEF5-37E1-4895-B71B-74B912652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69C12-E2EE-4BF6-A3C2-5194C711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97DE5-097B-4D1C-BC28-AAB5EFDC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1DCEB-482E-4CBB-BC39-3B8932F4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1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3802-B75B-41A0-A179-BF43ACCD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3C42B-ED3B-4E4B-8AE0-F88D6AD6B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3405-6D13-42A9-9F48-202A2805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C1E20-1ED6-4391-9497-2CFA33E1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0EF80-6F1E-4C70-91B2-38EFCF6F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2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D795-E959-46D6-A341-4FC44CFB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4398-B998-43A2-873E-A20647536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928E4-8839-4ECB-B98D-14F33EA42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E66FF-650D-40E6-BA0B-259C56F7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D0DA-8E34-4ABF-93B8-FE556808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D837C-9C9F-410E-9E0C-1B7D3533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B403-4CCE-4AAF-9640-DA015BC2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18584-9129-44F7-9B12-426C5D3C7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61D03-AFEF-4ABB-8130-31095F82B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E1132-D543-4920-8EAF-AAAB83DE8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1270B-1F6C-4468-9CDE-948A39032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6E062-6CA5-47E5-8459-BCA17438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A85EC-2A72-47C5-A806-3A794E32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EAA23-CD05-4509-BB1C-4EDD9C22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2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AAE5-5325-40EF-B970-78594F3C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9B9B7-B458-4F38-B5C5-95B55539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B9021-3378-4EB6-8EEE-3FE3A39C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EAB2C-2EB5-44F0-B4EC-80BE53B6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53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01C51-9EA5-4B4E-A16A-B71EE1E4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6CBBA-2607-4E0F-A47B-7F9EDE9C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1F32E-5CE4-4473-9FBA-4C269470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0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58899-2210-4AB3-A5B5-7B2DDBA3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D97A6-4ECE-4E8F-80D5-8AEC3D7AA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21A37-8838-4292-BF2F-CFC5D884D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95DFA-AD08-4446-9F07-E98D5F0B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1C656-D476-4735-BF41-A6BFC84D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3BDC8-F9FE-42D0-A7BD-5FB00396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3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41E3-3BD2-4BB2-B86D-2A1E59D1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2A2F0-F5CC-48AC-BDAF-E5939EE9D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90177-1EA3-40CA-AC8F-BA7FD4FE4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C6D5D-C415-4DA8-A778-D795C281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D5FE2-E37E-459A-BB43-EC3BC4D4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B5386-B3BF-4010-8C2F-17BBF167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6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C29C-D760-40EC-BAA3-FAEBDD74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F838E-8707-4FDC-95A6-05D25E3CC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6F10F-B102-44DF-992E-DCD2CE6B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A38A9-B71E-4C13-87DA-339EBA4D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6FEE-5EC8-4410-9624-AF6099B2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0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9F1F9-F5FF-401A-B5AB-03B5652F4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4481B-69FF-487E-B609-46809022D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0C29C-75E7-4B4D-8A6E-DFF9C725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77CC7-143E-4344-ABF9-B7B98BE1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38F69-DA4A-46C7-B974-4C914ABD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5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4A799-F5B8-4445-A6B8-658AD76FB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B9D6F-1779-4ABE-89E5-5B8CAB14C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8ABE8-A418-4D15-9012-C2E92B837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8A31D-2EB9-4C72-B940-D7F2A77AD9F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BCE43-7164-45F2-B848-FF417B7FB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42C7-57F9-48C1-B785-579F1F07B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C4267-5668-42E3-A234-F76AB9FD5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3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3DCCE-B5B1-4E1F-BB66-654AA50C0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67B5C-F357-4BD6-93EC-52F2A9B30C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0AE57-52FD-491A-969F-0657FF52F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95D909-6AAE-4DE9-8AC7-3A99AF0BD587}"/>
              </a:ext>
            </a:extLst>
          </p:cNvPr>
          <p:cNvSpPr txBox="1"/>
          <p:nvPr/>
        </p:nvSpPr>
        <p:spPr>
          <a:xfrm>
            <a:off x="5927942" y="4632326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Bradley Hand ITC" panose="03070402050302030203" pitchFamily="66" charset="0"/>
              </a:rPr>
              <a:t>The React Framework For 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39954-E9C2-4BCB-838D-2BC0C8AC3203}"/>
              </a:ext>
            </a:extLst>
          </p:cNvPr>
          <p:cNvSpPr txBox="1"/>
          <p:nvPr/>
        </p:nvSpPr>
        <p:spPr>
          <a:xfrm>
            <a:off x="406051" y="5856943"/>
            <a:ext cx="3915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Bradley Hand ITC" panose="03070402050302030203" pitchFamily="66" charset="0"/>
              </a:rPr>
              <a:t>Eng/Ryhab Farouq</a:t>
            </a:r>
          </a:p>
        </p:txBody>
      </p:sp>
    </p:spTree>
    <p:extLst>
      <p:ext uri="{BB962C8B-B14F-4D97-AF65-F5344CB8AC3E}">
        <p14:creationId xmlns:p14="http://schemas.microsoft.com/office/powerpoint/2010/main" val="391584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C35D-9CFA-41E8-AF4E-E9FA0BB0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750"/>
            <a:ext cx="10515600" cy="604424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948E-9A72-4957-AA55-A2299BC79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455" y="1487422"/>
            <a:ext cx="9633559" cy="252090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react is a library for building user interfaces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Not quite possible to build a full feature rich application ready to deployed for production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You have to make decisions on other features of the application like routing , styling , authentication etc.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6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689A-FA67-4DBB-96CD-9ED472A7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171"/>
            <a:ext cx="10515600" cy="724639"/>
          </a:xfrm>
        </p:spPr>
        <p:txBody>
          <a:bodyPr/>
          <a:lstStyle/>
          <a:p>
            <a:r>
              <a:rPr lang="en-US" u="sng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B92AC-F0DF-478A-8C9D-5944B8401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906" y="1529719"/>
            <a:ext cx="9170096" cy="37985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package that uses react for building user interfaces loaded with a lot more features that enable you to build full fledged production ready applications features exactly like routing , styling , authentication , bundle optimization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There is no need to install additional packages , next.js provide everything for you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Opinions and conventions need to be followed to implement the above said features</a:t>
            </a:r>
          </a:p>
        </p:txBody>
      </p:sp>
    </p:spTree>
    <p:extLst>
      <p:ext uri="{BB962C8B-B14F-4D97-AF65-F5344CB8AC3E}">
        <p14:creationId xmlns:p14="http://schemas.microsoft.com/office/powerpoint/2010/main" val="63965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567A-26A6-41CA-B0DE-ED287E17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Why learn Next.js?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BCC2-7171-4B58-8EA0-278A57B60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50" y="1590479"/>
            <a:ext cx="950829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Next.js simplifies the process of building a React application for production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File based routing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Support for </a:t>
            </a:r>
            <a:r>
              <a:rPr lang="en-US" dirty="0" err="1"/>
              <a:t>css</a:t>
            </a:r>
            <a:r>
              <a:rPr lang="en-US" dirty="0"/>
              <a:t> modules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Pre-rendering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sz="2200" dirty="0"/>
              <a:t>Next.js create html page for all at once that affect the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API routes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Dev and Prod build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Authentication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63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BE2E-AE03-0450-819B-35AD91EE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3533-8FEC-9D32-23F3-160E81A5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4" y="534808"/>
            <a:ext cx="10515600" cy="799796"/>
          </a:xfrm>
        </p:spPr>
        <p:txBody>
          <a:bodyPr/>
          <a:lstStyle/>
          <a:p>
            <a:r>
              <a:rPr lang="en-US" u="sng" dirty="0"/>
              <a:t>History</a:t>
            </a:r>
            <a:r>
              <a:rPr lang="en-US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3F3BC4-FFE0-2AC5-5097-72DEE077E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463764"/>
              </p:ext>
            </p:extLst>
          </p:nvPr>
        </p:nvGraphicFramePr>
        <p:xfrm>
          <a:off x="838201" y="1226511"/>
          <a:ext cx="7148208" cy="5094216"/>
        </p:xfrm>
        <a:graphic>
          <a:graphicData uri="http://schemas.openxmlformats.org/drawingml/2006/table">
            <a:tbl>
              <a:tblPr/>
              <a:tblGrid>
                <a:gridCol w="2382736">
                  <a:extLst>
                    <a:ext uri="{9D8B030D-6E8A-4147-A177-3AD203B41FA5}">
                      <a16:colId xmlns:a16="http://schemas.microsoft.com/office/drawing/2014/main" val="781925209"/>
                    </a:ext>
                  </a:extLst>
                </a:gridCol>
                <a:gridCol w="2382736">
                  <a:extLst>
                    <a:ext uri="{9D8B030D-6E8A-4147-A177-3AD203B41FA5}">
                      <a16:colId xmlns:a16="http://schemas.microsoft.com/office/drawing/2014/main" val="745663223"/>
                    </a:ext>
                  </a:extLst>
                </a:gridCol>
                <a:gridCol w="2382736">
                  <a:extLst>
                    <a:ext uri="{9D8B030D-6E8A-4147-A177-3AD203B41FA5}">
                      <a16:colId xmlns:a16="http://schemas.microsoft.com/office/drawing/2014/main" val="1481911557"/>
                    </a:ext>
                  </a:extLst>
                </a:gridCol>
              </a:tblGrid>
              <a:tr h="344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Version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Key Innovation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403216"/>
                  </a:ext>
                </a:extLst>
              </a:tr>
              <a:tr h="60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2016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File-based routing + SSR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6018"/>
                  </a:ext>
                </a:extLst>
              </a:tr>
              <a:tr h="630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9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2019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API Routes + Dynamic Routing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430605"/>
                  </a:ext>
                </a:extLst>
              </a:tr>
              <a:tr h="59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10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2020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 Optimization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07547"/>
                  </a:ext>
                </a:extLst>
              </a:tr>
              <a:tr h="609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12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SWC Compiler “Speedy Web Compiler” + Middleware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412208"/>
                  </a:ext>
                </a:extLst>
              </a:tr>
              <a:tr h="630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13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 Router + RSC + </a:t>
                      </a:r>
                      <a:r>
                        <a:rPr lang="en-US" sz="1600" dirty="0" err="1"/>
                        <a:t>Turbopack</a:t>
                      </a:r>
                      <a:endParaRPr lang="en-US" sz="1600" dirty="0"/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334829"/>
                  </a:ext>
                </a:extLst>
              </a:tr>
              <a:tr h="869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14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2023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Partial Prerendering + Server Actions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22867"/>
                  </a:ext>
                </a:extLst>
              </a:tr>
              <a:tr h="630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16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2025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Turbopack</a:t>
                      </a:r>
                      <a:r>
                        <a:rPr lang="en-US" sz="1600" dirty="0"/>
                        <a:t> default + Edge-first design</a:t>
                      </a:r>
                    </a:p>
                  </a:txBody>
                  <a:tcPr marL="50758" marR="50758" marT="25379" marB="25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1408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0A315E6-26DC-43E7-68EA-33FAD5301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248" y="1226510"/>
            <a:ext cx="3840380" cy="51977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4812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A0E1-8F47-43EE-B9B9-05EDD7B8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796"/>
          </a:xfrm>
        </p:spPr>
        <p:txBody>
          <a:bodyPr/>
          <a:lstStyle/>
          <a:p>
            <a:r>
              <a:rPr lang="en-US" u="sng" dirty="0"/>
              <a:t>Installation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BB7E8-3697-4D2F-9CB0-43D9BAE5C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761" y="1227554"/>
            <a:ext cx="8719159" cy="192900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npx</a:t>
            </a:r>
            <a:r>
              <a:rPr lang="en-US" dirty="0"/>
              <a:t> create-next-app &lt;project-name&gt;</a:t>
            </a:r>
          </a:p>
          <a:p>
            <a:r>
              <a:rPr lang="en-US" dirty="0" err="1"/>
              <a:t>npm</a:t>
            </a:r>
            <a:r>
              <a:rPr lang="en-US" dirty="0"/>
              <a:t> run dev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runs the _app.js at first then index.js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9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874D-0AE7-466F-99F0-8C9D3F88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Routing in Next.js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C152F-5566-42B1-A56D-3B35E762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151" y="1567297"/>
            <a:ext cx="8194110" cy="3222364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Route with pages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Nested routes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Dynamic routes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Catch-all routes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Navigate from the UI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Programmatically navigation between pages</a:t>
            </a:r>
          </a:p>
        </p:txBody>
      </p:sp>
    </p:spTree>
    <p:extLst>
      <p:ext uri="{BB962C8B-B14F-4D97-AF65-F5344CB8AC3E}">
        <p14:creationId xmlns:p14="http://schemas.microsoft.com/office/powerpoint/2010/main" val="195035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F656-76ED-4E50-8D2E-00D989A63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380"/>
            <a:ext cx="10515600" cy="824848"/>
          </a:xfrm>
        </p:spPr>
        <p:txBody>
          <a:bodyPr/>
          <a:lstStyle/>
          <a:p>
            <a:r>
              <a:rPr lang="en-US" u="sng" dirty="0"/>
              <a:t>Routing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CF51-AEEB-42F3-B072-4B6E9A365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228"/>
            <a:ext cx="10515600" cy="31096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React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Install a third party package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Routes.js file to configure the routes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each route , create a component file , export the component import it in routes.js and configure the new router with a new property</a:t>
            </a:r>
          </a:p>
        </p:txBody>
      </p:sp>
    </p:spTree>
    <p:extLst>
      <p:ext uri="{BB962C8B-B14F-4D97-AF65-F5344CB8AC3E}">
        <p14:creationId xmlns:p14="http://schemas.microsoft.com/office/powerpoint/2010/main" val="233480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73D59C-6EBC-475E-A720-1838947C1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370"/>
            <a:ext cx="10515600" cy="3410254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Next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File-system based routing mechanism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When a file is added to the pages folder in a project , it automatically becomes available as a route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By mixing and matching file names with a nested folder structure , it’s possible to pretty much define the most common routing patterns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49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18C9-B37B-4C5D-843F-10BF0DCFC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66264"/>
            <a:ext cx="10515600" cy="562736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Nested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57CF-86CB-4378-9DC8-720B0D7FA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616357"/>
            <a:ext cx="10515600" cy="7298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Localhost:3000/blog/first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74CCFB-AE3D-4BAD-BE01-50BB51082AEE}"/>
              </a:ext>
            </a:extLst>
          </p:cNvPr>
          <p:cNvSpPr txBox="1">
            <a:spLocks/>
          </p:cNvSpPr>
          <p:nvPr/>
        </p:nvSpPr>
        <p:spPr>
          <a:xfrm>
            <a:off x="1143000" y="815009"/>
            <a:ext cx="10515600" cy="748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Routing with pages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902109-248F-4DE6-A471-27BD32B6F4E8}"/>
              </a:ext>
            </a:extLst>
          </p:cNvPr>
          <p:cNvSpPr txBox="1">
            <a:spLocks/>
          </p:cNvSpPr>
          <p:nvPr/>
        </p:nvSpPr>
        <p:spPr>
          <a:xfrm>
            <a:off x="1143000" y="1751263"/>
            <a:ext cx="10515600" cy="927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 soon as you make html pages inside pages folder you can route between them immediately</a:t>
            </a:r>
          </a:p>
        </p:txBody>
      </p:sp>
    </p:spTree>
    <p:extLst>
      <p:ext uri="{BB962C8B-B14F-4D97-AF65-F5344CB8AC3E}">
        <p14:creationId xmlns:p14="http://schemas.microsoft.com/office/powerpoint/2010/main" val="154782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7B691-25F5-473A-8912-604BF774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684"/>
            <a:ext cx="10515600" cy="767264"/>
          </a:xfrm>
        </p:spPr>
        <p:txBody>
          <a:bodyPr/>
          <a:lstStyle/>
          <a:p>
            <a:r>
              <a:rPr lang="en-US" u="sng" dirty="0"/>
              <a:t>Dynamic routers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04BC-9C48-4539-9EF6-CA495BAD1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895"/>
            <a:ext cx="10515600" cy="7672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Localhost:3000/product/1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DE2861-25E8-4F87-821F-86B8043E6F15}"/>
              </a:ext>
            </a:extLst>
          </p:cNvPr>
          <p:cNvSpPr txBox="1">
            <a:spLocks/>
          </p:cNvSpPr>
          <p:nvPr/>
        </p:nvSpPr>
        <p:spPr>
          <a:xfrm>
            <a:off x="838200" y="2510106"/>
            <a:ext cx="10515600" cy="562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Nested dynamic routers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9708F7-0C94-4895-8DAC-6D7FA90D04EC}"/>
              </a:ext>
            </a:extLst>
          </p:cNvPr>
          <p:cNvSpPr txBox="1">
            <a:spLocks/>
          </p:cNvSpPr>
          <p:nvPr/>
        </p:nvSpPr>
        <p:spPr>
          <a:xfrm>
            <a:off x="838200" y="3278593"/>
            <a:ext cx="10515600" cy="729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Localhost:3000/product/1/review/5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406A76-6E42-4659-B3FE-865AFA74DA00}"/>
              </a:ext>
            </a:extLst>
          </p:cNvPr>
          <p:cNvSpPr txBox="1">
            <a:spLocks/>
          </p:cNvSpPr>
          <p:nvPr/>
        </p:nvSpPr>
        <p:spPr>
          <a:xfrm>
            <a:off x="838200" y="4588086"/>
            <a:ext cx="10515600" cy="562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Catch All Routes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5D210-F680-4DC1-A225-B4C910B586EA}"/>
              </a:ext>
            </a:extLst>
          </p:cNvPr>
          <p:cNvSpPr txBox="1">
            <a:spLocks/>
          </p:cNvSpPr>
          <p:nvPr/>
        </p:nvSpPr>
        <p:spPr>
          <a:xfrm>
            <a:off x="838200" y="5308197"/>
            <a:ext cx="10515600" cy="729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 have sidebar that contains main links and submain links</a:t>
            </a:r>
          </a:p>
        </p:txBody>
      </p:sp>
    </p:spTree>
    <p:extLst>
      <p:ext uri="{BB962C8B-B14F-4D97-AF65-F5344CB8AC3E}">
        <p14:creationId xmlns:p14="http://schemas.microsoft.com/office/powerpoint/2010/main" val="422075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859B-4CD7-4081-AE99-DCF6C8D7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Routing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6B075-5672-4CE1-B452-D4DABDD91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143" y="157510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Page based routing mechanism</a:t>
            </a:r>
            <a:r>
              <a:rPr lang="en-US" dirty="0"/>
              <a:t> , pages are associated with a route based on their file name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Nested routes </a:t>
            </a:r>
            <a:r>
              <a:rPr lang="en-US" dirty="0"/>
              <a:t>, Nested folder structure , files will be automatically routed in the same way in the URL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Dynamic routes </a:t>
            </a:r>
            <a:r>
              <a:rPr lang="en-US" dirty="0"/>
              <a:t>can be created by adding square brackets to a page name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Catch all routes </a:t>
            </a:r>
            <a:r>
              <a:rPr lang="en-US" dirty="0"/>
              <a:t>, add three dots inside square brackets to create a catch all route</a:t>
            </a:r>
          </a:p>
        </p:txBody>
      </p:sp>
    </p:spTree>
    <p:extLst>
      <p:ext uri="{BB962C8B-B14F-4D97-AF65-F5344CB8AC3E}">
        <p14:creationId xmlns:p14="http://schemas.microsoft.com/office/powerpoint/2010/main" val="360485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3F5D-62E7-4B60-9620-8E1D14B4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656"/>
          </a:xfrm>
        </p:spPr>
        <p:txBody>
          <a:bodyPr/>
          <a:lstStyle/>
          <a:p>
            <a:r>
              <a:rPr lang="en-US" u="sng" dirty="0"/>
              <a:t>Pre-rendering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2C39-8B2F-415E-B84B-EC74D0BEB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145"/>
            <a:ext cx="1092374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Next.js generates html for each page in advance instead of having it all done by client-side </a:t>
            </a:r>
            <a:r>
              <a:rPr lang="en-US" dirty="0" err="1"/>
              <a:t>javascript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 pre-rendering “plain react.js app”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 initial loading : </a:t>
            </a:r>
          </a:p>
          <a:p>
            <a:pPr marL="0" indent="0">
              <a:buNone/>
            </a:pPr>
            <a:r>
              <a:rPr lang="en-US" sz="2000" dirty="0"/>
              <a:t>app is not rendered   </a:t>
            </a:r>
            <a:r>
              <a:rPr lang="en-US" dirty="0" err="1"/>
              <a:t>js</a:t>
            </a:r>
            <a:r>
              <a:rPr lang="en-US" dirty="0"/>
              <a:t> loads     </a:t>
            </a:r>
            <a:r>
              <a:rPr lang="en-US" sz="2000" dirty="0"/>
              <a:t>react comp are initialized and app become interactive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Pre-rendering “using next.js”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 initial loading :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Pre-rendered html is displayed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loads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react comp are initialized and app become interactive</a:t>
            </a:r>
            <a:endParaRPr lang="en-US" dirty="0"/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C65336-3AA9-4478-8164-2664950C5633}"/>
              </a:ext>
            </a:extLst>
          </p:cNvPr>
          <p:cNvCxnSpPr/>
          <p:nvPr/>
        </p:nvCxnSpPr>
        <p:spPr>
          <a:xfrm>
            <a:off x="2993720" y="3519814"/>
            <a:ext cx="14154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530F5C-FC11-4273-9D22-452B3E72D35D}"/>
              </a:ext>
            </a:extLst>
          </p:cNvPr>
          <p:cNvCxnSpPr/>
          <p:nvPr/>
        </p:nvCxnSpPr>
        <p:spPr>
          <a:xfrm>
            <a:off x="4171167" y="5050077"/>
            <a:ext cx="14154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099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8171-EF5A-4EF4-AD8A-4D30DAD6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Pre-rendering improves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74F0C-A2A2-4ABE-81E7-03BDE54F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4265"/>
          </a:xfrm>
        </p:spPr>
        <p:txBody>
          <a:bodyPr/>
          <a:lstStyle/>
          <a:p>
            <a:r>
              <a:rPr lang="en-US" dirty="0"/>
              <a:t>In react application , you need to wait for the </a:t>
            </a:r>
            <a:r>
              <a:rPr lang="en-US" dirty="0" err="1"/>
              <a:t>javascript</a:t>
            </a:r>
            <a:r>
              <a:rPr lang="en-US" dirty="0"/>
              <a:t> to be executed </a:t>
            </a:r>
          </a:p>
          <a:p>
            <a:r>
              <a:rPr lang="en-US" dirty="0"/>
              <a:t>Perhaps fetch data from an external API and then render the UI.</a:t>
            </a:r>
          </a:p>
          <a:p>
            <a:r>
              <a:rPr lang="en-US" dirty="0"/>
              <a:t>There is a wait time for the user </a:t>
            </a:r>
          </a:p>
          <a:p>
            <a:r>
              <a:rPr lang="en-US" dirty="0"/>
              <a:t>With a pre-rendered page , the html is already generated and loads faster </a:t>
            </a:r>
          </a:p>
        </p:txBody>
      </p:sp>
    </p:spTree>
    <p:extLst>
      <p:ext uri="{BB962C8B-B14F-4D97-AF65-F5344CB8AC3E}">
        <p14:creationId xmlns:p14="http://schemas.microsoft.com/office/powerpoint/2010/main" val="3101835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FABF-CBB1-4F09-9C83-A7A76CFA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Pre-rendering helps with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FACA-2C41-43A0-A869-80FAA194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 react application , if the search engine hits your page , it only sees a div tag with id equal to root </a:t>
            </a:r>
          </a:p>
          <a:p>
            <a:r>
              <a:rPr lang="en-US" dirty="0"/>
              <a:t>If search engine hits a pre-rendered page through all the content is present in the source code </a:t>
            </a:r>
          </a:p>
        </p:txBody>
      </p:sp>
    </p:spTree>
    <p:extLst>
      <p:ext uri="{BB962C8B-B14F-4D97-AF65-F5344CB8AC3E}">
        <p14:creationId xmlns:p14="http://schemas.microsoft.com/office/powerpoint/2010/main" val="228506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3A13-B465-4DF8-93B0-5CFE11C6C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374"/>
          </a:xfrm>
        </p:spPr>
        <p:txBody>
          <a:bodyPr/>
          <a:lstStyle/>
          <a:p>
            <a:r>
              <a:rPr lang="en-US" u="sng" dirty="0"/>
              <a:t>Static Site Generation ‘SSG’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EA52B-E39A-489C-9136-A8FAC25C7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6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method of pre-rendering where the html pages are generated at build time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Prod server : an optimized build is created once you deploy that build , you don’t make code changes on the go once it’s deployed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Dev server : we should be able to make changes on our code and we want that code to immediately reflect in the browser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44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7F01-06A1-4B37-BF52-21A7CD34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010"/>
            <a:ext cx="10515600" cy="674535"/>
          </a:xfrm>
        </p:spPr>
        <p:txBody>
          <a:bodyPr>
            <a:normAutofit fontScale="90000"/>
          </a:bodyPr>
          <a:lstStyle/>
          <a:p>
            <a:r>
              <a:rPr lang="en-US" u="sng" dirty="0" err="1"/>
              <a:t>getStaticProps</a:t>
            </a:r>
            <a:r>
              <a:rPr lang="en-US" u="sng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CEA58-19DE-432F-AE63-0D692E44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5230"/>
          </a:xfrm>
        </p:spPr>
        <p:txBody>
          <a:bodyPr/>
          <a:lstStyle/>
          <a:p>
            <a:r>
              <a:rPr lang="en-US" dirty="0"/>
              <a:t>Used only for pre-rendering </a:t>
            </a:r>
          </a:p>
          <a:p>
            <a:r>
              <a:rPr lang="en-US" dirty="0"/>
              <a:t>Runs only on the server-side , the function will never run client-side </a:t>
            </a:r>
          </a:p>
          <a:p>
            <a:r>
              <a:rPr lang="en-US" dirty="0"/>
              <a:t>It should return an object and object should contain a props key which is an object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816B92-156D-4004-B4AA-6DD72DD15BBE}"/>
              </a:ext>
            </a:extLst>
          </p:cNvPr>
          <p:cNvSpPr txBox="1">
            <a:spLocks/>
          </p:cNvSpPr>
          <p:nvPr/>
        </p:nvSpPr>
        <p:spPr>
          <a:xfrm>
            <a:off x="927970" y="4020855"/>
            <a:ext cx="10515600" cy="674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getStaticPaths</a:t>
            </a:r>
            <a:r>
              <a:rPr kumimoji="0" lang="en-US" sz="4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function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A31505-33C8-4C30-A678-77C70F91FCB1}"/>
              </a:ext>
            </a:extLst>
          </p:cNvPr>
          <p:cNvSpPr txBox="1">
            <a:spLocks/>
          </p:cNvSpPr>
          <p:nvPr/>
        </p:nvSpPr>
        <p:spPr>
          <a:xfrm>
            <a:off x="927970" y="5055470"/>
            <a:ext cx="10515600" cy="101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fetch dynamic data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888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00C6-B33B-4768-89C7-B0CC2E37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Server Side Rendering ‘SSR’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BB16-2799-415C-9281-1C14DED3C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7434"/>
          </a:xfrm>
        </p:spPr>
        <p:txBody>
          <a:bodyPr/>
          <a:lstStyle/>
          <a:p>
            <a:r>
              <a:rPr lang="en-US" dirty="0"/>
              <a:t>Next.js allows you to pre-render a page not at build time but at request time , the html is generated for every incoming request </a:t>
            </a:r>
          </a:p>
          <a:p>
            <a:r>
              <a:rPr lang="en-US" dirty="0"/>
              <a:t>SSR is required when you need to fetch data per request and also when you need to fetch personalized data keeping in mind SEO</a:t>
            </a:r>
          </a:p>
          <a:p>
            <a:r>
              <a:rPr lang="en-US" dirty="0"/>
              <a:t>We use </a:t>
            </a:r>
            <a:r>
              <a:rPr lang="en-US" dirty="0" err="1"/>
              <a:t>getServerSideProps</a:t>
            </a:r>
            <a:r>
              <a:rPr lang="en-US" dirty="0"/>
              <a:t> function to fetch data </a:t>
            </a:r>
          </a:p>
        </p:txBody>
      </p:sp>
    </p:spTree>
    <p:extLst>
      <p:ext uri="{BB962C8B-B14F-4D97-AF65-F5344CB8AC3E}">
        <p14:creationId xmlns:p14="http://schemas.microsoft.com/office/powerpoint/2010/main" val="2406021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4C06-FAE2-43D2-8810-87D83BB2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Client Side Data Fetching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73B75-135B-4B69-90E4-BC62F620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5750"/>
          </a:xfrm>
        </p:spPr>
        <p:txBody>
          <a:bodyPr/>
          <a:lstStyle/>
          <a:p>
            <a:r>
              <a:rPr lang="en-US" dirty="0"/>
              <a:t>Sometimes you might not always need to pre-render the data </a:t>
            </a:r>
          </a:p>
          <a:p>
            <a:pPr marL="0" indent="0">
              <a:buNone/>
            </a:pPr>
            <a:r>
              <a:rPr lang="en-US" dirty="0"/>
              <a:t>                 Like : user dashboard page .</a:t>
            </a:r>
          </a:p>
          <a:p>
            <a:pPr marL="0" indent="0">
              <a:buNone/>
            </a:pPr>
            <a:r>
              <a:rPr lang="en-US" dirty="0"/>
              <a:t>As it’s private , that’s behind a login page screen , highly user specific and SEO is not relevant , so no need to pre-render the data you can rely on client side data fetching .</a:t>
            </a:r>
          </a:p>
        </p:txBody>
      </p:sp>
    </p:spTree>
    <p:extLst>
      <p:ext uri="{BB962C8B-B14F-4D97-AF65-F5344CB8AC3E}">
        <p14:creationId xmlns:p14="http://schemas.microsoft.com/office/powerpoint/2010/main" val="3815168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FB68-9210-4FF4-9C13-D7268AAA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SWR for client side data fetching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1D11-158B-44CA-869C-6B7302360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name ‘SWR’ is derived from ‘Stale-While-Revalidate’ </a:t>
            </a:r>
          </a:p>
          <a:p>
            <a:r>
              <a:rPr lang="en-US" dirty="0"/>
              <a:t>Is a strategy to first return the data from cache (stale), then send the fetch request (revalidate) and finally come with the up-to-date data </a:t>
            </a:r>
          </a:p>
          <a:p>
            <a:endParaRPr lang="en-US" dirty="0"/>
          </a:p>
          <a:p>
            <a:r>
              <a:rPr lang="en-US" dirty="0" err="1"/>
              <a:t>Npm</a:t>
            </a:r>
            <a:r>
              <a:rPr lang="en-US" dirty="0"/>
              <a:t> add </a:t>
            </a:r>
            <a:r>
              <a:rPr lang="en-US" dirty="0" err="1"/>
              <a:t>swr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92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170F-7109-497F-A71A-D51099EC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426"/>
          </a:xfrm>
        </p:spPr>
        <p:txBody>
          <a:bodyPr/>
          <a:lstStyle/>
          <a:p>
            <a:r>
              <a:rPr lang="en-US" u="sng" dirty="0"/>
              <a:t>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81EB-507B-4A4D-9436-CADAA481F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552"/>
            <a:ext cx="10515600" cy="4949411"/>
          </a:xfrm>
        </p:spPr>
        <p:txBody>
          <a:bodyPr>
            <a:normAutofit/>
          </a:bodyPr>
          <a:lstStyle/>
          <a:p>
            <a:r>
              <a:rPr lang="en-US" dirty="0"/>
              <a:t>CSR: </a:t>
            </a:r>
            <a:r>
              <a:rPr lang="en-US" sz="2400" dirty="0"/>
              <a:t>Rendering happens on the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browser</a:t>
            </a:r>
            <a:r>
              <a:rPr lang="en-US" sz="2400" dirty="0"/>
              <a:t>, so users may see a loading spinner while the application is being rendered. The performance (initial load) depends on the size of the application and how much JS is shipped to the browser</a:t>
            </a:r>
          </a:p>
          <a:p>
            <a:r>
              <a:rPr lang="en-US" dirty="0"/>
              <a:t>SSR: </a:t>
            </a:r>
            <a:r>
              <a:rPr lang="en-US" sz="2400" dirty="0"/>
              <a:t>Rendering happens on the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server</a:t>
            </a:r>
            <a:r>
              <a:rPr lang="en-US" sz="2400" dirty="0"/>
              <a:t> before the result is sent to the browser. There may be latency (depending on the server's location) because the request has to go to the server and back</a:t>
            </a:r>
          </a:p>
          <a:p>
            <a:r>
              <a:rPr lang="en-US" dirty="0"/>
              <a:t>SSG: </a:t>
            </a:r>
            <a:r>
              <a:rPr lang="en-US" sz="2400" dirty="0"/>
              <a:t>Rendering happens at a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built time on the server</a:t>
            </a:r>
            <a:r>
              <a:rPr lang="en-US" sz="2400" dirty="0"/>
              <a:t>, the result is cached in CDNs closer to users. This helps improve performance because rendering happens once and the result is stored closer to users (solving latency issues)</a:t>
            </a:r>
          </a:p>
          <a:p>
            <a:r>
              <a:rPr lang="en-US" dirty="0"/>
              <a:t>ISR: </a:t>
            </a:r>
            <a:r>
              <a:rPr lang="en-US" sz="2400" dirty="0"/>
              <a:t>Rendering happens at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time intervals and is cached</a:t>
            </a:r>
            <a:r>
              <a:rPr lang="en-US" sz="2400" dirty="0"/>
              <a:t>, so it's still performant but using ISR ensures data doesn't become stale</a:t>
            </a:r>
          </a:p>
        </p:txBody>
      </p:sp>
    </p:spTree>
    <p:extLst>
      <p:ext uri="{BB962C8B-B14F-4D97-AF65-F5344CB8AC3E}">
        <p14:creationId xmlns:p14="http://schemas.microsoft.com/office/powerpoint/2010/main" val="2512248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6385-FF9F-40B6-A2BE-77D1266B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DD2C4-5D00-41D3-919A-FD9EE7065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8F5F0A7E-9AF6-4290-AA7B-69D461AF5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33813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687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E7FB-9DBB-4EB2-9D63-D7021ED9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0A95A-5278-4008-BF8F-341B1D9A9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028" y="1690688"/>
            <a:ext cx="9876772" cy="323204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Authentication and Authorization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Client Side Authentication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Securing Pages Client Side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Server Side Authentication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Securing Pages Server Side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Securing API Routes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037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3C0E-7904-4378-8095-82631C52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7894"/>
          </a:xfrm>
        </p:spPr>
        <p:txBody>
          <a:bodyPr/>
          <a:lstStyle/>
          <a:p>
            <a:r>
              <a:rPr lang="en-US" u="sng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1EBF-7B8B-4C46-B8BE-EF441092A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05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API routes allow you to create restful endpoints as part of your next.js application folder structure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Within the page folder , you need to create a folder called ‘</a:t>
            </a:r>
            <a:r>
              <a:rPr lang="en-US" dirty="0" err="1"/>
              <a:t>api</a:t>
            </a:r>
            <a:r>
              <a:rPr lang="en-US" dirty="0"/>
              <a:t>’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Within ‘</a:t>
            </a:r>
            <a:r>
              <a:rPr lang="en-US" dirty="0" err="1"/>
              <a:t>api</a:t>
            </a:r>
            <a:r>
              <a:rPr lang="en-US" dirty="0"/>
              <a:t>’ folder you can define all the APIs for your application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You can add business logic without needing to write any additional custom server code and without having to configure any API routes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Next.js gives everything you need to write full-stack react + node application </a:t>
            </a:r>
          </a:p>
        </p:txBody>
      </p:sp>
    </p:spTree>
    <p:extLst>
      <p:ext uri="{BB962C8B-B14F-4D97-AF65-F5344CB8AC3E}">
        <p14:creationId xmlns:p14="http://schemas.microsoft.com/office/powerpoint/2010/main" val="2042655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2E53-E0DE-4761-8F37-298FAD47C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460" y="109911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API routing mechanism is similar to page based routing mechanism , APIs are associated with a route based on their file name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Every API routes exports a default function typically named as handler function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shouldn’t call our own API routes for pre-rendering content “cause delay</a:t>
            </a:r>
            <a:r>
              <a:rPr lang="en-US"/>
              <a:t>”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77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AD6A-E413-4740-A0D4-F7C8B85D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Adding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F07D-06F6-4090-A9A2-3B234A79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0792"/>
            <a:ext cx="10515600" cy="4351338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 </a:t>
            </a:r>
            <a:r>
              <a:rPr lang="en-US"/>
              <a:t>bootstrap  . </a:t>
            </a:r>
          </a:p>
          <a:p>
            <a:r>
              <a:rPr lang="en-US"/>
              <a:t>In </a:t>
            </a:r>
            <a:r>
              <a:rPr lang="en-US" dirty="0"/>
              <a:t>_app.js</a:t>
            </a:r>
          </a:p>
          <a:p>
            <a:r>
              <a:rPr lang="en-US" b="0" dirty="0">
                <a:solidFill>
                  <a:srgbClr val="FF6188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bootstrap/</a:t>
            </a:r>
            <a:r>
              <a:rPr lang="en-US" b="0" dirty="0" err="1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/bootstrap.min.css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FCFCF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F6188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useEffect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6188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’</a:t>
            </a:r>
          </a:p>
          <a:p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A9DC7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US" b="0" dirty="0">
                <a:solidFill>
                  <a:srgbClr val="FF6188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FCFCF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FF6188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bootstrap/</a:t>
            </a:r>
            <a:r>
              <a:rPr lang="en-US" b="0" dirty="0" err="1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FFD866"/>
                </a:solidFill>
                <a:effectLst/>
                <a:latin typeface="Consolas" panose="020B0609020204030204" pitchFamily="49" charset="0"/>
              </a:rPr>
              <a:t>/bootstrap.min.js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')</a:t>
            </a:r>
            <a:endParaRPr lang="en-US" b="0" dirty="0">
              <a:solidFill>
                <a:srgbClr val="FCFCF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39293"/>
                </a:solidFill>
                <a:effectLst/>
                <a:latin typeface="Consolas" panose="020B0609020204030204" pitchFamily="49" charset="0"/>
              </a:rPr>
              <a:t>},[])</a:t>
            </a:r>
            <a:r>
              <a:rPr lang="en-US" b="0" dirty="0">
                <a:solidFill>
                  <a:srgbClr val="FCFCFA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b="0" dirty="0">
              <a:solidFill>
                <a:srgbClr val="FCFCFA"/>
              </a:solidFill>
              <a:effectLst/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213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2149</TotalTime>
  <Words>1290</Words>
  <Application>Microsoft Office PowerPoint</Application>
  <PresentationFormat>Widescreen</PresentationFormat>
  <Paragraphs>155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Bradley Hand ITC</vt:lpstr>
      <vt:lpstr>Calibri</vt:lpstr>
      <vt:lpstr>Calibri Light</vt:lpstr>
      <vt:lpstr>Consolas</vt:lpstr>
      <vt:lpstr>Wingdings</vt:lpstr>
      <vt:lpstr>Office Theme</vt:lpstr>
      <vt:lpstr>PowerPoint Presentation</vt:lpstr>
      <vt:lpstr>React</vt:lpstr>
      <vt:lpstr>Next</vt:lpstr>
      <vt:lpstr>Why learn Next.js?</vt:lpstr>
      <vt:lpstr>History </vt:lpstr>
      <vt:lpstr>Installation </vt:lpstr>
      <vt:lpstr>Routing in Next.js application</vt:lpstr>
      <vt:lpstr>Routing Section</vt:lpstr>
      <vt:lpstr>PowerPoint Presentation</vt:lpstr>
      <vt:lpstr>Nested routes</vt:lpstr>
      <vt:lpstr>Dynamic routers</vt:lpstr>
      <vt:lpstr>Routing Summary</vt:lpstr>
      <vt:lpstr>Pre-rendering</vt:lpstr>
      <vt:lpstr>Pre-rendering improves performance</vt:lpstr>
      <vt:lpstr>Pre-rendering helps with SEO</vt:lpstr>
      <vt:lpstr>Static Site Generation ‘SSG’</vt:lpstr>
      <vt:lpstr>getStaticProps function</vt:lpstr>
      <vt:lpstr>Server Side Rendering ‘SSR’</vt:lpstr>
      <vt:lpstr>Client Side Data Fetching </vt:lpstr>
      <vt:lpstr>SWR for client side data fetching</vt:lpstr>
      <vt:lpstr>Revision</vt:lpstr>
      <vt:lpstr>PowerPoint Presentation</vt:lpstr>
      <vt:lpstr>Agenda</vt:lpstr>
      <vt:lpstr>Intro</vt:lpstr>
      <vt:lpstr>PowerPoint Presentation</vt:lpstr>
      <vt:lpstr>Adding bootstrap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Ryhab Farouq</cp:lastModifiedBy>
  <cp:revision>17</cp:revision>
  <dcterms:created xsi:type="dcterms:W3CDTF">2022-03-19T04:10:35Z</dcterms:created>
  <dcterms:modified xsi:type="dcterms:W3CDTF">2026-04-07T10:00:25Z</dcterms:modified>
</cp:coreProperties>
</file>